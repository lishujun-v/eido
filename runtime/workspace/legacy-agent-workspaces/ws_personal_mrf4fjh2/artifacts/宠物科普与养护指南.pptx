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A6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DC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DC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1371600"/>
            <a:ext cx="2743200" cy="274320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宠物科普与养护指南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D0F5F2"/>
                </a:solidFill>
              </a:defRPr>
            </a:pPr>
            <a:r>
              <a:t>从选宠到日常护理的全面手册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A0E0DC"/>
                </a:solidFill>
              </a:defRPr>
            </a:pPr>
            <a:r>
              <a:t>做一个负责任的宠物主人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286000" cy="381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26A69A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99339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D3A4A"/>
                </a:solidFill>
              </a:defRPr>
            </a:pPr>
            <a:r>
              <a:t>常见宠物种类介绍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3317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猫、狗、小型哺乳类、鸟类、水族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100584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88036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26A69A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86207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D3A4A"/>
                </a:solidFill>
              </a:defRPr>
            </a:pPr>
            <a:r>
              <a:t>选择宠物的考量因素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2004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时间、空间、经济、过敏等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57600"/>
            <a:ext cx="100584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4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26A69A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73075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D3A4A"/>
                </a:solidFill>
              </a:defRPr>
            </a:pPr>
            <a:r>
              <a:t>日常饲养要点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069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饮食、环境、运动与互动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526279"/>
            <a:ext cx="100584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617719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26A69A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599431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D3A4A"/>
                </a:solidFill>
              </a:defRPr>
            </a:pPr>
            <a:r>
              <a:t>宠物健康与护理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937759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疫苗、驱虫、常见疾病预防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394960"/>
            <a:ext cx="100584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48640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26A69A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46811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D3A4A"/>
                </a:solidFill>
              </a:defRPr>
            </a:pPr>
            <a:r>
              <a:t>宠物与人类的关系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8064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心理健康与陪伴价值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</a:defRPr>
            </a:pPr>
            <a:r>
              <a:t>常见宠物种类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</a:defRPr>
            </a:pPr>
            <a:r>
              <a:t>五大热门宠物类群速览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286000" cy="381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47472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6A69A"/>
                </a:solidFill>
              </a:defRPr>
            </a:pPr>
            <a:r>
              <a:t>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独立优雅，适合忙碌人群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寿命12-18年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常见：英短、美短、布偶、橘猫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92024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920240"/>
            <a:ext cx="3474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</a:defRPr>
            </a:pPr>
            <a:r>
              <a:t>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060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忠诚活泼，需要大量互动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寿命10-15年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常见：金毛、拉布拉多、柯基、泰迪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92024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920240"/>
            <a:ext cx="347472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</a:defRPr>
            </a:pPr>
            <a:r>
              <a:t>小型哺乳类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6060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仓鼠、兔子、龙猫等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体型小，饲养空间需求低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适合空间有限的家庭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411480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7440" y="4114800"/>
            <a:ext cx="34747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4297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鸟类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8006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鹦鹉、文鸟、金丝雀等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互动性强，部分会学舌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需注意噪音和笼舍清洁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11480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4114800"/>
            <a:ext cx="347472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297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</a:defRPr>
            </a:pPr>
            <a:r>
              <a:t>水族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8006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观赏鱼、龟等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观赏价值高，安静无扰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需定期维护水质和过滤系统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</a:defRPr>
            </a:pPr>
            <a:r>
              <a:t>猫 vs 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</a:defRPr>
            </a:pPr>
            <a:r>
              <a:t>两大主流宠物的核心差异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286000" cy="381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92024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2024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维度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92024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B3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92024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D3A4A"/>
                </a:solidFill>
              </a:defRPr>
            </a:pPr>
            <a:r>
              <a:t>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92024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192024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D3A4A"/>
                </a:solidFill>
              </a:defRPr>
            </a:pPr>
            <a:r>
              <a:t>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5603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5603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5603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D3A4A"/>
                </a:solidFill>
              </a:defRPr>
            </a:pPr>
            <a:r>
              <a:t>独立性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5603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</a:defRPr>
            </a:pPr>
            <a:r>
              <a:t>高，可独处较久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5603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</a:defRPr>
            </a:pPr>
            <a:r>
              <a:t>低，需要陪伴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2461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0" y="32461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32461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32461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D3A4A"/>
                </a:solidFill>
              </a:defRPr>
            </a:pPr>
            <a:r>
              <a:t>运动需求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2461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</a:defRPr>
            </a:pPr>
            <a:r>
              <a:t>中等，室内即可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32461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</a:defRPr>
            </a:pPr>
            <a:r>
              <a:t>高，需每天遛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39319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0" y="39319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0" y="39319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9319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D3A4A"/>
                </a:solidFill>
              </a:defRPr>
            </a:pPr>
            <a:r>
              <a:t>训练难度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9319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</a:defRPr>
            </a:pPr>
            <a:r>
              <a:t>较高，性格倔强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9319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</a:defRPr>
            </a:pPr>
            <a:r>
              <a:t>较低，服从性好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46177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0" y="46177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72400" y="46177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46177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D3A4A"/>
                </a:solidFill>
              </a:defRPr>
            </a:pPr>
            <a:r>
              <a:t>空间需求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6177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</a:defRPr>
            </a:pPr>
            <a:r>
              <a:t>较小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46177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</a:defRPr>
            </a:pPr>
            <a:r>
              <a:t>较大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0" y="53035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0" y="53035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0" y="53035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53035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D3A4A"/>
                </a:solidFill>
              </a:defRPr>
            </a:pPr>
            <a:r>
              <a:t>日常打理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3035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</a:defRPr>
            </a:pPr>
            <a:r>
              <a:t>自我清洁+猫砂盆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53035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</a:defRPr>
            </a:pPr>
            <a:r>
              <a:t>需定期洗澡梳毛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71600" y="59893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72000" y="59893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E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772400" y="5989320"/>
            <a:ext cx="3017520" cy="64008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54480" y="59893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2D3A4A"/>
                </a:solidFill>
              </a:defRPr>
            </a:pPr>
            <a:r>
              <a:t>年均花费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59893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</a:defRPr>
            </a:pPr>
            <a:r>
              <a:t>5000-10000元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59893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</a:defRPr>
            </a:pPr>
            <a:r>
              <a:t>8000-15000元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</a:defRPr>
            </a:pPr>
            <a:r>
              <a:t>选择宠物的考量因素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</a:defRPr>
            </a:pPr>
            <a:r>
              <a:t>养宠前请认真评估以下几点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286000" cy="381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474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</a:defRPr>
            </a:pPr>
            <a:r>
              <a:t>时间投入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每日喂食、清洁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狗需每天遛1-2小时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猫需互动玩耍30分钟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92024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920240"/>
            <a:ext cx="347472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</a:defRPr>
            </a:pPr>
            <a:r>
              <a:t>居住空间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6060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小型宠物空间需求低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中大型犬需宽敞空间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确认物业是否允许养宠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92024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920240"/>
            <a:ext cx="34747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</a:defRPr>
            </a:pPr>
            <a:r>
              <a:t>经济能力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6060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初期：购买/领养+用品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每月：食物+猫砂/护理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医疗：体检+意外费用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14800"/>
            <a:ext cx="347472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</a:defRPr>
            </a:pPr>
            <a:r>
              <a:t>过敏与健康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006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确认家庭成员无过敏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了解宠物带来的健康风险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411480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79" y="4114800"/>
            <a:ext cx="347472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4297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6A69A"/>
                </a:solidFill>
              </a:defRPr>
            </a:pPr>
            <a:r>
              <a:t>家庭情况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48006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有无幼儿或老人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全家是否达成一致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出差时的照顾安排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411480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19" y="4114800"/>
            <a:ext cx="3474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4297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</a:defRPr>
            </a:pPr>
            <a:r>
              <a:t>长期承诺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8006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宠物寿命10-20年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搬家/结婚/生子不弃养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• 这是一份长期责任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</a:defRPr>
            </a:pPr>
            <a:r>
              <a:t>日常饲养：饮食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</a:defRPr>
            </a:pPr>
            <a:r>
              <a:t>科学喂养是健康的基础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286000" cy="381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03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推荐做法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3A4A"/>
                </a:solidFill>
              </a:defRPr>
            </a:pPr>
            <a:r>
              <a:t>• 选择正规品牌宠物粮，查看配料表</a:t>
            </a:r>
          </a:p>
          <a:p>
            <a:pPr>
              <a:spcAft>
                <a:spcPts val="400"/>
              </a:spcAft>
              <a:defRPr sz="1500">
                <a:solidFill>
                  <a:srgbClr val="2D3A4A"/>
                </a:solidFill>
              </a:defRPr>
            </a:pPr>
            <a:r>
              <a:t>• 根据年龄选择幼年/成年/老年粮</a:t>
            </a:r>
          </a:p>
          <a:p>
            <a:pPr>
              <a:spcAft>
                <a:spcPts val="400"/>
              </a:spcAft>
              <a:defRPr sz="1500">
                <a:solidFill>
                  <a:srgbClr val="2D3A4A"/>
                </a:solidFill>
              </a:defRPr>
            </a:pPr>
            <a:r>
              <a:t>• 定时定量喂食，避免自由采食</a:t>
            </a:r>
          </a:p>
          <a:p>
            <a:pPr>
              <a:spcAft>
                <a:spcPts val="400"/>
              </a:spcAft>
              <a:defRPr sz="1500">
                <a:solidFill>
                  <a:srgbClr val="2D3A4A"/>
                </a:solidFill>
              </a:defRPr>
            </a:pPr>
            <a:r>
              <a:t>• 保证充足清洁饮水</a:t>
            </a:r>
          </a:p>
          <a:p>
            <a:pPr>
              <a:spcAft>
                <a:spcPts val="400"/>
              </a:spcAft>
              <a:defRPr sz="1500">
                <a:solidFill>
                  <a:srgbClr val="2D3A4A"/>
                </a:solidFill>
              </a:defRPr>
            </a:pPr>
            <a:r>
              <a:t>• 适当补充湿粮，增加水分摄入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035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</a:defRPr>
            </a:pPr>
            <a:r>
              <a:t>禁忌食物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060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3A4A"/>
                </a:solidFill>
              </a:defRPr>
            </a:pPr>
            <a:r>
              <a:t>• 巧克力、咖啡因（可可碱中毒）</a:t>
            </a:r>
          </a:p>
          <a:p>
            <a:pPr>
              <a:spcAft>
                <a:spcPts val="400"/>
              </a:spcAft>
              <a:defRPr sz="1500">
                <a:solidFill>
                  <a:srgbClr val="2D3A4A"/>
                </a:solidFill>
              </a:defRPr>
            </a:pPr>
            <a:r>
              <a:t>• 葡萄、葡萄干（肾衰竭）</a:t>
            </a:r>
          </a:p>
          <a:p>
            <a:pPr>
              <a:spcAft>
                <a:spcPts val="400"/>
              </a:spcAft>
              <a:defRPr sz="1500">
                <a:solidFill>
                  <a:srgbClr val="2D3A4A"/>
                </a:solidFill>
              </a:defRPr>
            </a:pPr>
            <a:r>
              <a:t>• 洋葱、大蒜（溶血性贫血）</a:t>
            </a:r>
          </a:p>
          <a:p>
            <a:pPr>
              <a:spcAft>
                <a:spcPts val="400"/>
              </a:spcAft>
              <a:defRPr sz="1500">
                <a:solidFill>
                  <a:srgbClr val="2D3A4A"/>
                </a:solidFill>
              </a:defRPr>
            </a:pPr>
            <a:r>
              <a:t>• 木糖醇（低血糖/肝衰竭）</a:t>
            </a:r>
          </a:p>
          <a:p>
            <a:pPr>
              <a:spcAft>
                <a:spcPts val="400"/>
              </a:spcAft>
              <a:defRPr sz="1500">
                <a:solidFill>
                  <a:srgbClr val="2D3A4A"/>
                </a:solidFill>
              </a:defRPr>
            </a:pPr>
            <a:r>
              <a:t>• 牛奶（多数宠物乳糖不耐受）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D3A4A"/>
                </a:solidFill>
              </a:defRPr>
            </a:pPr>
            <a:r>
              <a:t>喂食频率参考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320040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D3A4A"/>
                </a:solidFill>
              </a:defRPr>
            </a:pPr>
            <a:r>
              <a:t>幼犬/幼猫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0292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6A69A"/>
                </a:solidFill>
              </a:defRPr>
            </a:pPr>
            <a:r>
              <a:t>每天3-4次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0292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</a:defRPr>
            </a:pPr>
            <a:r>
              <a:t>少食多餐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40680"/>
            <a:ext cx="320040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406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D3A4A"/>
                </a:solidFill>
              </a:defRPr>
            </a:pPr>
            <a:r>
              <a:t>成年犬/猫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4406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6A69A"/>
                </a:solidFill>
              </a:defRPr>
            </a:pPr>
            <a:r>
              <a:t>每天2次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4406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</a:defRPr>
            </a:pPr>
            <a:r>
              <a:t>早晚各一次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52160"/>
            <a:ext cx="320040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D3A4A"/>
                </a:solidFill>
              </a:defRPr>
            </a:pPr>
            <a:r>
              <a:t>老年犬/猫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85216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6A69A"/>
                </a:solidFill>
              </a:defRPr>
            </a:pPr>
            <a:r>
              <a:t>每天2次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85216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</a:defRPr>
            </a:pPr>
            <a:r>
              <a:t>易消化食物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</a:defRPr>
            </a:pPr>
            <a:r>
              <a:t>日常饲养：环境与运动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</a:defRPr>
            </a:pPr>
            <a:r>
              <a:t>打造安全舒适的生活空间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286000" cy="381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47472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6A69A"/>
                </a:solidFill>
              </a:defRPr>
            </a:pPr>
            <a:r>
              <a:t>居住环境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保持通风、温度适宜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提供专属休息区域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收好电线、小物件等危险品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猫需猫砂盆和猫抓板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狗需舒适的窝和围栏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9202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920240"/>
            <a:ext cx="347472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</a:defRPr>
            </a:pPr>
            <a:r>
              <a:t>清洁卫生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060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定期清洗食碗水碗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猫砂盆每天清理1-2次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定期洗澡（狗1-2周，猫按需）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梳理毛发，减少毛球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定期消毒居住区域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9202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920240"/>
            <a:ext cx="3474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</a:defRPr>
            </a:pPr>
            <a:r>
              <a:t>运动与互动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6060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狗：每天遛弯30-60分钟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猫：每天逗猫棒玩耍15-30分钟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提供益智玩具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定期社交训练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避免长时间独处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107899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1078992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</a:defRPr>
            </a:pPr>
            <a:r>
              <a:t>小贴士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不同品种运动需求差异大，请根据品种特性调整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夏季注意防暑降温，冬季注意保暖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互动不仅是运动，也是增进感情的重要方式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</a:defRPr>
            </a:pPr>
            <a:r>
              <a:t>宠物健康：疫苗与驱虫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</a:defRPr>
            </a:pPr>
            <a:r>
              <a:t>预防胜于治疗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286000" cy="381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0352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6A69A"/>
                </a:solidFill>
              </a:defRPr>
            </a:pPr>
            <a:r>
              <a:t>疫苗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核心疫苗（必打）：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  犬：犬瘟、细小、传染性肝炎、狂犬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  猫：猫瘟、猫杯状、猫鼻支、狂犬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非核心疫苗（按需）：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  犬：钩端螺旋体、犬咳等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  猫：猫白血病等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接种时间：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  幼犬/幼猫6-8周龄开始，每隔3-4周一次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  共3-4针，之后每年加强一次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注意事项：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  接种前后一周避免洗澡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  健康状态下方可接种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035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</a:defRPr>
            </a:pPr>
            <a:r>
              <a:t>驱虫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060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体内驱虫：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  幼宠每月一次，成宠每3个月一次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  常见寄生虫：蛔虫、绦虫、钩虫等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体外驱虫：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  每月一次（春夏高频季节）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  常见寄生虫：跳蚤、蜱虫、虱子等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驱虫药选择：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  选择正规品牌，按体重用药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  体内外可同日进行，间隔72小时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注意事项：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  驱虫前后观察宠物状态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  孕宠、病宠需遵医嘱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</a:defRPr>
            </a:pPr>
            <a:r>
              <a:t>常见疾病预防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</a:defRPr>
            </a:pPr>
            <a:r>
              <a:t>早发现早治疗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286000" cy="381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47472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6A69A"/>
                </a:solidFill>
              </a:defRPr>
            </a:pPr>
            <a:r>
              <a:t>猫常见疾病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猫瘟（泛白细胞减少症）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猫鼻支（疱疹病毒）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猫杯状病毒感染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猫传腹（FIP）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泌尿系统疾病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毛球症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肥胖症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口腔疾病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920240"/>
            <a:ext cx="34747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920240"/>
            <a:ext cx="3474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</a:defRPr>
            </a:pPr>
            <a:r>
              <a:t>狗常见疾病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060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犬瘟热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犬细小病毒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犬传染性肝炎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犬副流感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犬冠状病毒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皮肤病（真菌/螨虫）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关节炎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肥胖症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920240"/>
            <a:ext cx="34747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920240"/>
            <a:ext cx="34747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</a:defRPr>
            </a:pPr>
            <a:r>
              <a:t>预防措施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6060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按时接种疫苗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定期驱虫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每年体检1-2次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保持环境卫生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科学饮食，控制体重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观察精神状态和食欲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发现异常及时就医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不要自行用药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3A4A"/>
                </a:solidFill>
              </a:defRPr>
            </a:pPr>
            <a:r>
              <a:t>宠物与人类的关系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</a:defRPr>
            </a:pPr>
            <a:r>
              <a:t>彼此治愈的伙伴关系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286000" cy="381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47472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6A69A"/>
                </a:solidFill>
              </a:defRPr>
            </a:pPr>
            <a:r>
              <a:t>心理健康益处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减轻焦虑和抑郁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降低孤独感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增加户外活动量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提升幸福感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9202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920240"/>
            <a:ext cx="34747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</a:defRPr>
            </a:pPr>
            <a:r>
              <a:t>生理健康益处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060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降低血压和心率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增强免疫力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减少过敏（儿童早期接触）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增加运动量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9202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920240"/>
            <a:ext cx="347472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</a:defRPr>
            </a:pPr>
            <a:r>
              <a:t>社交价值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6060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宠物是社交话题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遛狗增加邻里交流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宠物社区/活动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辅助治疗（宠物疗法）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107899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1078992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</a:defRPr>
            </a:pPr>
            <a:r>
              <a:t>记住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宠物不仅仅是宠物，它们是家人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它们用一生陪伴我们，请用爱回报</a:t>
            </a:r>
          </a:p>
          <a:p>
            <a:pPr>
              <a:spcAft>
                <a:spcPts val="400"/>
              </a:spcAft>
              <a:defRPr sz="1400">
                <a:solidFill>
                  <a:srgbClr val="2D3A4A"/>
                </a:solidFill>
              </a:defRPr>
            </a:pPr>
            <a:r>
              <a:t>• 领养代替购买，不离不弃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A6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DC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DC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D0F5F2"/>
                </a:solidFill>
              </a:defRPr>
            </a:pPr>
            <a:r>
              <a:t>爱护动物，科学养宠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A0E0DC"/>
                </a:solidFill>
              </a:defRPr>
            </a:pPr>
            <a:r>
              <a:t>愿每一只宠物都被温柔以待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